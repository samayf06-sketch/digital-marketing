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E9D2"/>
    <a:srgbClr val="C9A227"/>
    <a:srgbClr val="0B0B0B"/>
    <a:srgbClr val="F7F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696D59-2BBF-43F4-BA73-B2BEC3A4ECDD}" v="23" dt="2026-09-08T19:41:19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9:32:54.0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180 376 4915,'0'510'3965,"-4"-474"-3589,4-36-371,0 0 1,0 1-1,0-1 1,0 0-1,-1 1 0,1-1 1,0 0-1,0 0 1,0 1-1,0-1 0,0 0 1,-1 0-1,1 1 1,0-1-1,0 0 1,0 0-1,-1 0 0,1 1 1,0-1-1,0 0 1,0 0-1,-1 0 0,1 0 1,0 0-1,0 0 1,-1 1-1,1-1 0,0 0 1,-1 0-1,1 0 1,0 0-1,0 0 1,-1 0-1,0 0 0,-11-16-62,-7-29-72,1-1 0,-14-59 0,14 43-2,4 4-71,-12-98 0,24 142 174,-9-46-101,6 40 65,1-1 1,-1-30-1,4 17 2,3-161-288,-2 194 356,0 0 1,0 0-1,0 0 1,0 0 0,0 0-1,0-1 1,0 1-1,0 0 1,1 0 0,-1 0-1,0 0 1,1 0-1,-1 0 1,1 0 0,-1 0-1,1 0 1,-1 0-1,1 0 1,0 0-1,-1 1 1,1-1 0,0 0-1,0 0 1,0 1-1,-1-1 1,1 0 0,0 1-1,0-1 1,0 1-1,0-1 1,2 0 0,-2 2 11,0-1 0,1 1 0,-1-1 0,1 1 0,-1-1 0,0 1 1,1 0-1,-1 0 0,0 0 0,0 0 0,0 0 0,0 0 1,1 0-1,-1 0 0,-1 0 0,1 1 0,0-1 0,0 0 1,0 0-1,-1 1 0,1-1 0,0 2 0,11 28 291,-1 0 1,-1 1-1,8 50 0,11 39 620,-17-75-296,11 90 0,-16-88-103,21 80 0,4-6 256,8 25 157,-32-131-724,-7-16-219,-1 0-1,0-1 1,0 1-1,1 0 1,-1 0 0,0 0-1,0 0 1,1 0-1,-1 0 1,0 0-1,0-1 1,0 1 0,1 0-1,-1 0 1,0 0-1,0-1 1,0 1-1,1 0 1,-1 0 0,0 0-1,0-1 1,0 1-1,0 0 1,0 0-1,0-1 1,1 1 0,-1 0-1,0 0 1,0-1-1,0 1 1,0 0 0,0-1-1,0 1 1,0 0-1,5-44-317,-4 27 221,31-206-1171,37-220-212,-61 400 1286,-1 0 0,-3-1 0,-2-71 1,-1 182 797,-1-28-221,8 69 0,36 126 904,9-25-370,-34-140-460,-16-68-417,1-7-93,2-8-55,8-54-192,-11 48 173,1 1 1,9-27-1,-1 17-32,-2 0 0,-1 0 0,-1-1 0,-2 0 0,-1 0 0,2-48 0,-8 55 69,-1-25-103,2 45 192,1 1 0,-1-1 0,0 1 0,1-1 0,-1 1-1,1-1 1,-1 1 0,1-1 0,0 1 0,0 0 0,1-1 0,-1 1 0,3-3-1,-4 4 10,1 1 0,0-1 0,-1 1 0,1 0 0,0 0 0,0-1-1,0 1 1,-1 0 0,1 0 0,0 0 0,0 0 0,0 0-1,0 0 1,-1 0 0,1 0 0,0 0 0,0 0 0,0 0 0,-1 1-1,1-1 1,0 0 0,0 0 0,0 1 0,-1-1 0,1 1 0,0-1-1,-1 1 1,1-1 0,0 1 0,-1-1 0,1 1 0,-1 0-1,1-1 1,-1 1 0,1 0 0,-1-1 0,1 1 0,-1 0 0,1 0-1,18 32 199,-10-10-48,-1 0 0,-1 0 0,-1 1 0,-1 0 0,-1 0-1,1 46 1,-4-49-111,3 10 140,2 1 0,12 39 0,2 12 170,-12-49-112,14 34 0,-2-3 72,-16-135-984,21-164-409,-14 150 570,3-135 0,-11 204 548,5 22 64,12 33 169,-15-29-181,98 208 888,-56-116-505,7 27 89,16 36 68,-55-141-481,-15-25-153,0 0-1,0 0 1,0 0 0,0 0 0,0 0-1,0 0 1,0 0 0,0 0-1,0 0 1,0 0 0,0 0 0,0 0-1,0 0 1,0-1 0,0 1 0,0 0-1,0 0 1,0 0 0,1 0-1,-1 0 1,0 0 0,0 0 0,0 0-1,0 0 1,0 0 0,0 0 0,0 0-1,0 0 1,0 0 0,0 0 0,0 0-1,0 0 1,0 0 0,0 0-1,0 0 1,0 0 0,0 0 0,0 0-1,1 1 1,-7-18-143,-5-9-36,1-1-1,2 0 0,-6-36 0,13 200 727,1-134-537,0-1 1,-1 1-1,0 0 1,1 0-1,-1-1 1,0 1-1,0-1 0,-1 1 1,1-1-1,0 1 1,-1-1-1,1 1 1,-1-1-1,0 0 0,0 0 1,0 0-1,0 0 1,0 0-1,0-1 1,-1 1-1,1-1 0,-1 1 1,1-1-1,-1 0 1,1 0-1,-1 0 1,1 0-1,-1 0 0,0-1 1,0 1-1,-3-1 1,-11 2 45,-1-1 1,1 0-1,-1-2 1,-18-2-1,1 0 51,-339 1 983,212 2-661,147-1-361,-1 0-1,0-1 1,-19-6 0,-35-4 167,68 11-235,-4 1 28,0 0-1,0-1 0,0 0 0,0 0 1,-7-3-1,12 4-27,0-1 0,0 1 0,-1-1 1,1 1-1,0-1 0,0 0 0,0 0 0,0 1 0,0-1 1,0 0-1,0 0 0,0 0 0,0 0 0,1 0 0,-1 0 1,0 0-1,1 0 0,-1-1 0,1 1 0,-1 0 0,1 0 1,-1 0-1,1-1 0,0 1 0,0 0 0,-1-1 0,1 1 1,0 0-1,0 0 0,1-3 0,1-10-24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9E9DF-7F0E-518E-4432-437DE55FE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17153-25D2-1CB8-AFAB-4B4A0AA0E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F6EC9-9D54-9049-7C8A-D5B9CDEA2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DFF-AFCB-406B-988D-762B6834E05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DF01F-6ABB-0C2A-BFC0-A59BE67E2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6F0C6-D2AC-48A6-A2FF-D376758D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1B4F-452D-48F1-8303-E6F25BE2F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331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55B32-1463-AD6D-65CE-EA09E0E66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B00A1-D65F-F14B-2EA5-2299A69FF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1CFBA-E57E-814C-2332-2A135E5CB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DFF-AFCB-406B-988D-762B6834E05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72A92-A867-3491-58FF-52C0ACFE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2D3DC-4D4A-E539-A218-3AEC6ADA1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1B4F-452D-48F1-8303-E6F25BE2F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616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CCA2-01BB-9C0C-2B65-68A37DF95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0EA02-F177-90A1-A06D-49CD0E967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87989-BFEF-1A92-F8A1-8A2A32F3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DFF-AFCB-406B-988D-762B6834E05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849E3-6158-0C28-F7F9-0449ECFBC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4F66-0AAA-4BC0-0C22-4CBB55DD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1B4F-452D-48F1-8303-E6F25BE2F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12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FB34C-83FF-B039-98EF-962F67F6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B006A-9906-C0BA-73DB-C8EA3A954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A4E35-7B69-9970-50A3-153034EB3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DF5AF-FA9B-4200-78F4-CD4E58FE9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DFF-AFCB-406B-988D-762B6834E05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EFB28-A9F1-1EBD-9A55-B24428BD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1F8EE-B950-ED82-EF69-CAFC3551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1B4F-452D-48F1-8303-E6F25BE2F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394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0292-70C1-4533-564D-D5B3A00B0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5EB28-9AAD-F427-027A-40D292B8F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BD047-36E7-E679-3640-D5CFD0F05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028703-E31A-1A0A-20CA-70173CAB8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2A9A9C-6B2C-0937-0D1B-8D7E9DBB7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8BC0A1-4196-09AF-CE32-2CED763F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DFF-AFCB-406B-988D-762B6834E05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D070D-C51D-06F1-38E8-AEB41DA7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723111-1010-DCF5-19B8-F3B74C22F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1B4F-452D-48F1-8303-E6F25BE2F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08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D2AF5-6992-6315-F306-A72BD6A35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FE64A4-023B-69FA-4E61-CF32F69F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DFF-AFCB-406B-988D-762B6834E05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FE67F-BC30-78F5-4DBF-89112688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41FA9-8420-4749-2E0D-12D59A665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1B4F-452D-48F1-8303-E6F25BE2F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505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500AE0-CEED-29C5-B177-65118572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DFF-AFCB-406B-988D-762B6834E05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86F35-FB62-4BF6-44E0-C77887CD9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0A76D-1A48-67A2-6B71-904E7F52A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1B4F-452D-48F1-8303-E6F25BE2F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12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BCD5D-56D6-A4C7-A13A-C8732FB29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5763A-13B5-214C-C303-714FF1922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4609D-3867-7EFB-CD32-0BAC9F0BB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5FAE1-871E-A153-0170-0821382D2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DFF-AFCB-406B-988D-762B6834E05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DEEBF-C6C8-4572-565D-2C542E0F5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2EC78-9B72-0389-0B7C-8DFBC34E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1B4F-452D-48F1-8303-E6F25BE2F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29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945B3-4F3D-54E1-24FF-DC6DA8A63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A154F1-9540-9B7E-858F-FF388E56A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5D907-6FFA-DAFE-3866-00755F4A8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F33F6-1702-E796-684A-AB1BF9E4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DFF-AFCB-406B-988D-762B6834E05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15BDB-F6DE-B4EE-4B80-B6679577B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2A2B7-D6D8-EE59-DBE2-4781C7361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1B4F-452D-48F1-8303-E6F25BE2F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96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06392-0FD3-1AF0-DAB7-5DB7BA56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0A188-5327-DCAB-1425-2DAB6BD39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1ACE0-D586-6E1E-16C7-59EE9DC0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DFF-AFCB-406B-988D-762B6834E05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C7BD5-DF26-70C6-A89F-03084FB8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8C2E9-EAD0-5E69-204B-440D0097F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1B4F-452D-48F1-8303-E6F25BE2F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377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94CDE5-E346-EBF6-A48C-1010D4BF1F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60F29-0C1C-9ADE-1E3F-26E619BDB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004-AE7D-241D-1FD8-98DE4D582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DFF-AFCB-406B-988D-762B6834E05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17298-0155-3434-6B52-F1FA66B1F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856FE-6F62-FECA-D50D-A853CF91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51B4F-452D-48F1-8303-E6F25BE2F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94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7232C7-BAB6-5E5F-ED61-C35AD1744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70CD7-64E9-4D77-0F6D-6D1BCD941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DED60-868B-AA4B-306E-939DCA25B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D1DFF-AFCB-406B-988D-762B6834E05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13CA9-5EC3-7624-0E1A-B9E766B05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5B589-B662-2B36-140C-CF25545BE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51B4F-452D-48F1-8303-E6F25BE2F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83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dezyneecole.com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customXml" Target="../ink/ink1.xml"/><Relationship Id="rId9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610703-613E-AED5-A391-3754CD0FF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241" y="0"/>
            <a:ext cx="12213241" cy="684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3A725-32D1-26EA-937E-09F49B2CC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DF7D5CC-4DDE-123C-1991-1AECCDBF429F}"/>
              </a:ext>
            </a:extLst>
          </p:cNvPr>
          <p:cNvCxnSpPr/>
          <p:nvPr/>
        </p:nvCxnSpPr>
        <p:spPr>
          <a:xfrm>
            <a:off x="0" y="611883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7762FF-A9B5-5AFC-8063-9B96468DB06D}"/>
              </a:ext>
            </a:extLst>
          </p:cNvPr>
          <p:cNvSpPr txBox="1"/>
          <p:nvPr/>
        </p:nvSpPr>
        <p:spPr>
          <a:xfrm>
            <a:off x="187568" y="674361"/>
            <a:ext cx="2813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5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75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BD100-9749-D6A8-6314-4457CE2D7FF6}"/>
              </a:ext>
            </a:extLst>
          </p:cNvPr>
          <p:cNvSpPr txBox="1"/>
          <p:nvPr/>
        </p:nvSpPr>
        <p:spPr>
          <a:xfrm>
            <a:off x="187569" y="205438"/>
            <a:ext cx="2813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5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7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47E40-7754-B44D-F897-524DAECDD8EF}"/>
              </a:ext>
            </a:extLst>
          </p:cNvPr>
          <p:cNvSpPr txBox="1"/>
          <p:nvPr/>
        </p:nvSpPr>
        <p:spPr>
          <a:xfrm>
            <a:off x="9122800" y="136791"/>
            <a:ext cx="2813539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75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750" dirty="0">
              <a:latin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E1A665-CB55-E6FD-1712-996C2C3C91F4}"/>
              </a:ext>
            </a:extLst>
          </p:cNvPr>
          <p:cNvGrpSpPr/>
          <p:nvPr/>
        </p:nvGrpSpPr>
        <p:grpSpPr>
          <a:xfrm>
            <a:off x="2576927" y="943132"/>
            <a:ext cx="7038145" cy="5634363"/>
            <a:chOff x="2576927" y="943132"/>
            <a:chExt cx="7038145" cy="5634363"/>
          </a:xfrm>
        </p:grpSpPr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BFFDD4B1-CAE8-4866-5B3A-A60723CF8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6927" y="943132"/>
              <a:ext cx="7038145" cy="3662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Assignment Folio of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Digital Marketing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Submitted to 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kumimoji="0" lang="en-US" altLang="en-US" sz="16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Dezyne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 École College 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Toward Digital Marketing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By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</a:t>
              </a:r>
              <a:r>
                <a:rPr lang="en-US" altLang="en-US" sz="1600" dirty="0">
                  <a:solidFill>
                    <a:srgbClr val="000000"/>
                  </a:solidFill>
                  <a:ea typeface="Calibri" panose="020F0502020204030204" pitchFamily="34" charset="0"/>
                </a:rPr>
                <a:t>CA 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lang="en-US" altLang="en-US" sz="1600" dirty="0">
                  <a:solidFill>
                    <a:srgbClr val="000000"/>
                  </a:solidFill>
                  <a:ea typeface="Calibri" panose="020F0502020204030204" pitchFamily="34" charset="0"/>
                </a:rPr>
                <a:t>3</a:t>
              </a:r>
              <a:r>
                <a:rPr lang="en-US" altLang="en-US" sz="1600" baseline="30000" dirty="0">
                  <a:solidFill>
                    <a:srgbClr val="000000"/>
                  </a:solidFill>
                  <a:ea typeface="Calibri" panose="020F0502020204030204" pitchFamily="34" charset="0"/>
                </a:rPr>
                <a:t>rd</a:t>
              </a:r>
              <a:r>
                <a:rPr lang="en-US" altLang="en-US" sz="1600" dirty="0">
                  <a:solidFill>
                    <a:srgbClr val="000000"/>
                  </a:solidFill>
                  <a:ea typeface="Calibri" panose="020F0502020204030204" pitchFamily="34" charset="0"/>
                </a:rPr>
                <a:t> 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 Semester 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lang="en-US" altLang="en-US" sz="1600" dirty="0">
                  <a:solidFill>
                    <a:srgbClr val="000000"/>
                  </a:solidFill>
                  <a:ea typeface="Calibri" panose="020F0502020204030204" pitchFamily="34" charset="0"/>
                </a:rPr>
                <a:t>Samay Pinjlani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AC9A6C28-E940-E4A8-0D65-DFFD4C317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737" y="5715721"/>
              <a:ext cx="4888523" cy="8617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Dezyne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 École College 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106/10, Civil Lines, Ajmer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 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563C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hlinkClick r:id="rId2"/>
                </a:rPr>
                <a:t>www.dezyneecole.com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280EAB5-728B-965B-710C-F37758E7F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4398264"/>
            <a:ext cx="2344145" cy="131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939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D8A073-149E-16A8-9E3F-EB9A7F7C4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5FA8BC1-D97E-13A1-6DB8-AD25D778AF7D}"/>
              </a:ext>
            </a:extLst>
          </p:cNvPr>
          <p:cNvGrpSpPr/>
          <p:nvPr/>
        </p:nvGrpSpPr>
        <p:grpSpPr>
          <a:xfrm>
            <a:off x="0" y="173367"/>
            <a:ext cx="12192000" cy="6118365"/>
            <a:chOff x="0" y="136791"/>
            <a:chExt cx="12192000" cy="6118365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21F29036-7F18-1582-3BA6-3269E9B87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568" y="1484619"/>
              <a:ext cx="12004432" cy="4770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IN" sz="1600" dirty="0"/>
                <a:t>We take this opportunity to express our sincere gratitude to </a:t>
              </a:r>
              <a:r>
                <a:rPr lang="en-IN" sz="1600" dirty="0" err="1"/>
                <a:t>Dezyne</a:t>
              </a:r>
              <a:r>
                <a:rPr lang="en-IN" sz="1600" dirty="0"/>
                <a:t> École College for providing us with the knowledge, resources, and guidance essential to the successful completion of this project.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Our deepest thanks to our respected Principal, Dr. Vinita Mathur, for her visionary leadership and continuous encouragement. Her commitment to academic excellence and student growth has been a constant source of motivation and pride.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We are equally thankful to all our faculty members for their consistent support, expert advice, and valuable insights that shaped our learning and helped us achieve this milestone.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Lastly, we extend heartfelt thanks to everyone who directly or indirectly contributed to the success of this project.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We are proud to be part of </a:t>
              </a:r>
              <a:r>
                <a:rPr lang="en-IN" sz="1600" dirty="0" err="1"/>
                <a:t>Dezyne</a:t>
              </a:r>
              <a:r>
                <a:rPr lang="en-IN" sz="1600" dirty="0"/>
                <a:t> École College, an institution that truly nurtures professionalism, innovation, and purpose.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With sincere appreciation,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Samay Pinjlani </a:t>
              </a:r>
              <a:br>
                <a:rPr lang="en-IN" sz="1600" dirty="0"/>
              </a:br>
              <a:r>
                <a:rPr lang="en-IN" sz="1600" dirty="0"/>
                <a:t>Department of Bachelor of Computer Applications</a:t>
              </a:r>
              <a:br>
                <a:rPr lang="en-IN" sz="1600" dirty="0"/>
              </a:br>
              <a:r>
                <a:rPr lang="en-IN" sz="1600" dirty="0" err="1"/>
                <a:t>Dezyne</a:t>
              </a:r>
              <a:r>
                <a:rPr lang="en-IN" sz="1600" dirty="0"/>
                <a:t> École College, Ajmer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06F7034-3EAC-3AD6-F856-C178C12E5E9B}"/>
                </a:ext>
              </a:extLst>
            </p:cNvPr>
            <p:cNvCxnSpPr/>
            <p:nvPr/>
          </p:nvCxnSpPr>
          <p:spPr>
            <a:xfrm>
              <a:off x="0" y="611883"/>
              <a:ext cx="12192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CCD40EE-16EB-2BFB-6638-58150276F774}"/>
                </a:ext>
              </a:extLst>
            </p:cNvPr>
            <p:cNvSpPr txBox="1"/>
            <p:nvPr/>
          </p:nvSpPr>
          <p:spPr>
            <a:xfrm>
              <a:off x="187568" y="674361"/>
              <a:ext cx="2813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75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ASSIGNMENT FOLIO</a:t>
              </a:r>
              <a:endParaRPr lang="en-US" altLang="en-US" sz="1750" dirty="0">
                <a:latin typeface="Arial" panose="020B0604020202020204" pitchFamily="34" charset="0"/>
              </a:endParaRPr>
            </a:p>
            <a:p>
              <a:endParaRPr lang="en-IN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EC6D054-1568-CF59-32D9-E4B93D0E0AB4}"/>
                </a:ext>
              </a:extLst>
            </p:cNvPr>
            <p:cNvSpPr txBox="1"/>
            <p:nvPr/>
          </p:nvSpPr>
          <p:spPr>
            <a:xfrm>
              <a:off x="187569" y="205438"/>
              <a:ext cx="2813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750" b="1" dirty="0">
                  <a:solidFill>
                    <a:srgbClr val="2F5597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Digital Marketing</a:t>
              </a:r>
              <a:endParaRPr lang="en-IN" sz="175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D6F7C2-72A9-B524-AD83-3E026308E4DF}"/>
                </a:ext>
              </a:extLst>
            </p:cNvPr>
            <p:cNvSpPr txBox="1"/>
            <p:nvPr/>
          </p:nvSpPr>
          <p:spPr>
            <a:xfrm>
              <a:off x="9122800" y="136791"/>
              <a:ext cx="2813539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</a:pPr>
              <a:r>
                <a:rPr lang="en-US" altLang="en-US" sz="175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Acknowledgement</a:t>
              </a:r>
              <a:endParaRPr lang="en-US" altLang="en-US" sz="175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2073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A15F7-D549-2DD0-5D23-191A72BB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5A8130E-1871-61D4-E75C-3A5373F24E74}"/>
              </a:ext>
            </a:extLst>
          </p:cNvPr>
          <p:cNvGrpSpPr/>
          <p:nvPr/>
        </p:nvGrpSpPr>
        <p:grpSpPr>
          <a:xfrm>
            <a:off x="0" y="173367"/>
            <a:ext cx="12192000" cy="6370602"/>
            <a:chOff x="0" y="136791"/>
            <a:chExt cx="12192000" cy="6370602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7096FCB4-2E15-8225-8FB5-7F7D7D66B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568" y="1244414"/>
              <a:ext cx="12004432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IN" sz="1600" b="1" dirty="0"/>
                <a:t>Objective :</a:t>
              </a:r>
              <a:br>
                <a:rPr lang="en-IN" sz="1600" b="1" dirty="0"/>
              </a:br>
              <a:endParaRPr lang="en-IN" sz="1600" dirty="0"/>
            </a:p>
            <a:p>
              <a:r>
                <a:rPr lang="en-IN" sz="1600" dirty="0"/>
                <a:t>Build Subscriber Base, Increase Engagement, Promote Products, Improve Conversions &amp; Maximize ROI</a:t>
              </a:r>
            </a:p>
            <a:p>
              <a:r>
                <a:rPr lang="en-IN" sz="1600" b="1" dirty="0"/>
                <a:t>Key Feature :</a:t>
              </a:r>
              <a:br>
                <a:rPr lang="en-IN" sz="1600" b="1" dirty="0"/>
              </a:br>
              <a:endParaRPr lang="en-IN" sz="1600" dirty="0"/>
            </a:p>
            <a:p>
              <a:r>
                <a:rPr lang="en-IN" sz="1600" b="1" dirty="0"/>
                <a:t>1. Subscriber List Creation</a:t>
              </a:r>
              <a:endParaRPr lang="en-IN" sz="1600" dirty="0"/>
            </a:p>
            <a:p>
              <a:r>
                <a:rPr lang="en-IN" sz="1600" dirty="0"/>
                <a:t>Created audience list in Mailchimp. Segmented subscribers based on interests and demographics.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b="1" dirty="0"/>
                <a:t>2. Email Campaign Setup</a:t>
              </a:r>
              <a:endParaRPr lang="en-IN" sz="1600" dirty="0"/>
            </a:p>
            <a:p>
              <a:r>
                <a:rPr lang="en-IN" sz="1600" dirty="0"/>
                <a:t>Selected regular email campaign and defined campaign name, audience, and subject line with strong CTA.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b="1" dirty="0"/>
                <a:t>3. Email Designing</a:t>
              </a:r>
              <a:endParaRPr lang="en-IN" sz="1600" dirty="0"/>
            </a:p>
            <a:p>
              <a:r>
                <a:rPr lang="en-IN" sz="1600" dirty="0"/>
                <a:t>Designed responsive email using drag-and-drop builder. Added logo, banner image, product details, and clear Call-to-Action buttons.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b="1" dirty="0"/>
                <a:t>4. Test Email &amp; Optimization</a:t>
              </a:r>
              <a:endParaRPr lang="en-IN" sz="1600" dirty="0"/>
            </a:p>
            <a:p>
              <a:r>
                <a:rPr lang="en-IN" sz="1600" dirty="0"/>
                <a:t>Sent test emails to check layout, links, subject line, and mobile responsiveness.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b="1" dirty="0"/>
                <a:t>5. Final Publication &amp; Performance Tracking</a:t>
              </a:r>
              <a:endParaRPr lang="en-IN" sz="1600" dirty="0"/>
            </a:p>
            <a:p>
              <a:r>
                <a:rPr lang="en-IN" sz="1600" dirty="0"/>
                <a:t>Scheduled and sent final campaign. Monitored open rate, click-through rate (CTR), and conversions.</a:t>
              </a: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3198AC7-9456-1EED-C790-00CA8BD3A4C1}"/>
                </a:ext>
              </a:extLst>
            </p:cNvPr>
            <p:cNvCxnSpPr/>
            <p:nvPr/>
          </p:nvCxnSpPr>
          <p:spPr>
            <a:xfrm>
              <a:off x="0" y="611883"/>
              <a:ext cx="12192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06FA78-7F71-40A3-7144-C15445E939B3}"/>
                </a:ext>
              </a:extLst>
            </p:cNvPr>
            <p:cNvSpPr txBox="1"/>
            <p:nvPr/>
          </p:nvSpPr>
          <p:spPr>
            <a:xfrm>
              <a:off x="187568" y="674361"/>
              <a:ext cx="2813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75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ASSIGNMENT FOLIO</a:t>
              </a:r>
              <a:endParaRPr lang="en-US" altLang="en-US" sz="1750" dirty="0">
                <a:latin typeface="Arial" panose="020B0604020202020204" pitchFamily="34" charset="0"/>
              </a:endParaRPr>
            </a:p>
            <a:p>
              <a:endParaRPr lang="en-IN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222EFF-2819-11C3-83C1-1007B25381AB}"/>
                </a:ext>
              </a:extLst>
            </p:cNvPr>
            <p:cNvSpPr txBox="1"/>
            <p:nvPr/>
          </p:nvSpPr>
          <p:spPr>
            <a:xfrm>
              <a:off x="187569" y="205438"/>
              <a:ext cx="2813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750" b="1" dirty="0">
                  <a:solidFill>
                    <a:srgbClr val="2F5597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Digital Marketing</a:t>
              </a:r>
              <a:endParaRPr lang="en-IN" sz="175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F3F5A78-08F4-F680-6A2F-EB06BA9F1078}"/>
                </a:ext>
              </a:extLst>
            </p:cNvPr>
            <p:cNvSpPr txBox="1"/>
            <p:nvPr/>
          </p:nvSpPr>
          <p:spPr>
            <a:xfrm>
              <a:off x="9122800" y="136791"/>
              <a:ext cx="2813539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</a:pPr>
              <a:r>
                <a:rPr lang="en-US" altLang="en-US" sz="175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Case  Study</a:t>
              </a:r>
              <a:endParaRPr lang="en-US" altLang="en-US" sz="175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2844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3D37F0-2F1B-AEC1-D15F-958A9696A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A319DF-91FB-F04E-814C-C0C7DC1A0D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6895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42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395EF-C633-0FA4-AEF7-F35E4BCD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4DD1CE-EB4C-CECE-2DD2-3BDACA08A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71F95C-DFD7-8352-F9F8-F789666DE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6666"/>
            <a:ext cx="12192000" cy="57713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4450CB-6412-7D4A-CDEE-0A7B7D71C28E}"/>
              </a:ext>
            </a:extLst>
          </p:cNvPr>
          <p:cNvSpPr txBox="1"/>
          <p:nvPr/>
        </p:nvSpPr>
        <p:spPr>
          <a:xfrm>
            <a:off x="3195944" y="216330"/>
            <a:ext cx="5975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Mailchimp Account Setup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697054-B620-5E3B-FDC5-7220EEC671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81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F9F9-7AF1-3CA5-518A-0111E7277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6449E7-E84D-1158-8E29-A09EBFF93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454E29-52ED-4251-5296-187143BF5320}"/>
              </a:ext>
            </a:extLst>
          </p:cNvPr>
          <p:cNvSpPr txBox="1"/>
          <p:nvPr/>
        </p:nvSpPr>
        <p:spPr>
          <a:xfrm>
            <a:off x="2943664" y="207186"/>
            <a:ext cx="6304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Email Campaign Dashboard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A0B2FF-0BF4-3976-CFF9-6C7DBFB5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8992"/>
            <a:ext cx="12192000" cy="57790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2CD51D-B19C-E826-7367-74E7F5C7EB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906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09998-BA62-7330-5168-80EF76AA9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DD0EC9-8E5D-FB8A-BD04-0BE47A300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512DA8-9525-A9EB-E501-41C619B88746}"/>
              </a:ext>
            </a:extLst>
          </p:cNvPr>
          <p:cNvSpPr txBox="1"/>
          <p:nvPr/>
        </p:nvSpPr>
        <p:spPr>
          <a:xfrm>
            <a:off x="3195944" y="216330"/>
            <a:ext cx="5975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Campaign Type Selection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6DCC60-BEDC-C487-C2B1-9E905551E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3152"/>
            <a:ext cx="12192000" cy="57648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D5D7AE-6E5C-F1BB-9568-F3F4168924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32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49AB7-6032-1092-CA77-CB98DF298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2A5FC60-1E7A-4B96-5622-765EE9748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C9A4EC-34F7-5C2F-89FF-B5CB06BA1D2D}"/>
              </a:ext>
            </a:extLst>
          </p:cNvPr>
          <p:cNvSpPr txBox="1"/>
          <p:nvPr/>
        </p:nvSpPr>
        <p:spPr>
          <a:xfrm>
            <a:off x="3195944" y="216330"/>
            <a:ext cx="6277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Email Design Method Selection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27A4BD-BAB2-C2DB-243B-2FE6E706E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1560"/>
            <a:ext cx="12192000" cy="58064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D69B8C-2B65-CE1C-D536-C8AD25915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417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D0051-6C50-BC8B-2AD5-9ED7CE0A2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2FB50C-DE2A-DAAD-6A50-0A3526486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7AE2FC-BE4B-5BE9-7F94-72C8F3C51D8E}"/>
              </a:ext>
            </a:extLst>
          </p:cNvPr>
          <p:cNvSpPr txBox="1"/>
          <p:nvPr/>
        </p:nvSpPr>
        <p:spPr>
          <a:xfrm>
            <a:off x="3195944" y="216330"/>
            <a:ext cx="5975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Email Template Selection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2DB93D-DAC2-D49D-D073-F1BDADA72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6424"/>
            <a:ext cx="12192000" cy="57515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98F3D5-D88D-B155-4E27-BEE38BAE5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5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1194D-D26D-BC4E-D8D1-5EB84A19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5F0B49-9710-E5C0-B9BB-90BC9B46B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B2566F-8302-CC10-2FE9-770C71B610DE}"/>
              </a:ext>
            </a:extLst>
          </p:cNvPr>
          <p:cNvSpPr txBox="1"/>
          <p:nvPr/>
        </p:nvSpPr>
        <p:spPr>
          <a:xfrm>
            <a:off x="3195944" y="216330"/>
            <a:ext cx="612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Email Design &amp; Customization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5D433C-6B6C-B324-2923-D78D5A6A4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088" y="1060704"/>
            <a:ext cx="4120896" cy="57972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2DC93B-08D9-710E-0B88-7B2B192300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704" y="1139433"/>
            <a:ext cx="2852928" cy="57185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0B284B-43EB-96FA-F386-3F20CBB94A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46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03C44-1191-3B06-BDD9-55F2D2BAC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ADC45D-EAE7-E760-79E0-6C166ABA3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6F5F63-CFA1-A511-D74C-F52B6C54F770}"/>
              </a:ext>
            </a:extLst>
          </p:cNvPr>
          <p:cNvSpPr txBox="1"/>
          <p:nvPr/>
        </p:nvSpPr>
        <p:spPr>
          <a:xfrm>
            <a:off x="3195944" y="277886"/>
            <a:ext cx="5975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Contact Import Method Selection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0F09D9-7A42-9244-675B-6859E4209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8136"/>
            <a:ext cx="12192000" cy="57698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AC5D1E-A828-FC12-9DD5-C0663B98BD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37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0CE46-4345-7F11-DE12-DA2930B52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F9BCBF-BD49-AE29-BDCB-9EF1A7C00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D34763-2987-9B68-2E49-3A4502A16C08}"/>
              </a:ext>
            </a:extLst>
          </p:cNvPr>
          <p:cNvSpPr txBox="1"/>
          <p:nvPr/>
        </p:nvSpPr>
        <p:spPr>
          <a:xfrm>
            <a:off x="3195944" y="216330"/>
            <a:ext cx="6368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Copy &amp; Paste Your Contacts 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4DC047-CED3-847C-7CF0-F1ADD683E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8993"/>
            <a:ext cx="12192000" cy="57790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6690B7-A1F5-18FB-9FAD-65DEEA1E40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224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F0DDB-AA65-461A-E858-738935AA5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AE86B3-FF00-F162-86E7-95634A909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9DE2D1-C9AA-49F0-369D-FD1400F01493}"/>
              </a:ext>
            </a:extLst>
          </p:cNvPr>
          <p:cNvSpPr txBox="1"/>
          <p:nvPr/>
        </p:nvSpPr>
        <p:spPr>
          <a:xfrm>
            <a:off x="3301804" y="216330"/>
            <a:ext cx="5362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Organize Your Contacts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2EB5D3-52D5-1BF2-C548-463FEE077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1560"/>
            <a:ext cx="12192000" cy="58064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822C92-711E-D7E1-0BBD-5A9574111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47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0D498-DC7D-987B-CE8B-3262E4082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2B5E11-E967-F6AF-B506-35753C52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965030-082F-22D7-B4C3-50DF5FD24A00}"/>
              </a:ext>
            </a:extLst>
          </p:cNvPr>
          <p:cNvSpPr txBox="1"/>
          <p:nvPr/>
        </p:nvSpPr>
        <p:spPr>
          <a:xfrm>
            <a:off x="3855016" y="216330"/>
            <a:ext cx="4256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Tag Your Contacts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D5720F-9D0B-17BE-D416-571E06E6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8135"/>
            <a:ext cx="12192000" cy="57072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570808-E1FA-5258-7710-EC878021B8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21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C06BE-B732-9FD7-E629-0A14A1F39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B98976-CB08-B2A1-4D52-64C63D379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41DC41-FA22-2F1C-EA1F-A53749CBA2DD}"/>
              </a:ext>
            </a:extLst>
          </p:cNvPr>
          <p:cNvSpPr txBox="1"/>
          <p:nvPr/>
        </p:nvSpPr>
        <p:spPr>
          <a:xfrm>
            <a:off x="2861368" y="198042"/>
            <a:ext cx="6469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Contacts Imported Successfully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08CD36-B598-0093-BAF8-E5CF40552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1376"/>
            <a:ext cx="12192000" cy="57466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7D7AAAB-4B6E-B5DA-767F-B58B54EFF4B0}"/>
                  </a:ext>
                </a:extLst>
              </p14:cNvPr>
              <p14:cNvContentPartPr/>
              <p14:nvPr/>
            </p14:nvContentPartPr>
            <p14:xfrm>
              <a:off x="7378272" y="4683456"/>
              <a:ext cx="439200" cy="352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7D7AAAB-4B6E-B5DA-767F-B58B54EFF4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15632" y="4620816"/>
                <a:ext cx="564840" cy="4784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8092680-6C29-B2CB-2B34-DB00956F90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96734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35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D0FA4-3D28-C7C8-F5F4-29E7847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735EF9-3CEF-7852-1396-E24927993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58C6B7-A190-C232-616B-F44DEC0D563F}"/>
              </a:ext>
            </a:extLst>
          </p:cNvPr>
          <p:cNvSpPr txBox="1"/>
          <p:nvPr/>
        </p:nvSpPr>
        <p:spPr>
          <a:xfrm>
            <a:off x="3762052" y="234618"/>
            <a:ext cx="4667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Import Confirmation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495D8B-3544-45C8-8B2B-F72BAE53B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0432"/>
            <a:ext cx="6020640" cy="56875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FC222B-1037-B293-0131-57A921219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640" y="1170431"/>
            <a:ext cx="6171360" cy="56875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2A14D8-970C-BBB7-2E23-4F07D5C2CC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06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7B9EA8-9B6B-B52C-02CF-44A531D0F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B59FCDB-6BE6-58C6-929E-B50EBD7A4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438062-580A-C068-AD8C-EDBFFA6758F5}"/>
              </a:ext>
            </a:extLst>
          </p:cNvPr>
          <p:cNvSpPr txBox="1"/>
          <p:nvPr/>
        </p:nvSpPr>
        <p:spPr>
          <a:xfrm>
            <a:off x="3739192" y="243762"/>
            <a:ext cx="4713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Import Confirmation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EAB829-FF87-5E3B-152B-36B4A70E6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1289"/>
            <a:ext cx="12192000" cy="56967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F89A6A-3959-91EA-1389-8D733A6C6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43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F4D0F-FC43-C53B-0031-330049E66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E37D82-1C00-C9C3-0928-1E147CA4E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770827-DBBC-C67B-53AB-131B8E1A24C9}"/>
              </a:ext>
            </a:extLst>
          </p:cNvPr>
          <p:cNvSpPr txBox="1"/>
          <p:nvPr/>
        </p:nvSpPr>
        <p:spPr>
          <a:xfrm>
            <a:off x="3808592" y="216330"/>
            <a:ext cx="436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Campaign Preview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96A330-E19B-5143-50BC-5F2A7718F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3856"/>
            <a:ext cx="12192000" cy="5724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05782A-1FE4-CF4F-CAD8-195EF267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21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838BB-853A-9B69-015D-08D6D408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3B5640-F790-80C7-D309-2E66D8CB3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96012"/>
            <a:ext cx="914400" cy="8869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EAA347-C1C2-14B4-95B4-8C9755DE7490}"/>
              </a:ext>
            </a:extLst>
          </p:cNvPr>
          <p:cNvSpPr txBox="1"/>
          <p:nvPr/>
        </p:nvSpPr>
        <p:spPr>
          <a:xfrm>
            <a:off x="3195944" y="216330"/>
            <a:ext cx="6085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Campaign Successfully Launched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FE1CDF-B40F-58AC-4B9D-D7B5DDC8D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1560"/>
            <a:ext cx="12192000" cy="58064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8FF886-E1C3-54C6-7156-96EFD0A22B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43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75390-CF52-C138-F60C-F5C1E164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3C9B8C-4582-ADC7-903A-14A6031CF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536" b="94620" l="6055" r="92676">
                        <a14:foregroundMark x1="20410" y1="18354" x2="10254" y2="34916"/>
                        <a14:foregroundMark x1="10254" y1="34916" x2="6445" y2="50949"/>
                        <a14:foregroundMark x1="6445" y1="50949" x2="7813" y2="60549"/>
                        <a14:foregroundMark x1="7813" y1="60549" x2="16406" y2="77532"/>
                        <a14:foregroundMark x1="16406" y1="77532" x2="24121" y2="83966"/>
                        <a14:foregroundMark x1="24121" y1="83966" x2="30176" y2="85865"/>
                        <a14:foregroundMark x1="5859" y1="47046" x2="6055" y2="40084"/>
                        <a14:foregroundMark x1="6055" y1="40084" x2="7227" y2="39346"/>
                        <a14:foregroundMark x1="7227" y1="39346" x2="14355" y2="24684"/>
                        <a14:foregroundMark x1="14355" y1="24684" x2="20020" y2="18143"/>
                        <a14:foregroundMark x1="20020" y1="18143" x2="34766" y2="9916"/>
                        <a14:foregroundMark x1="34766" y1="9916" x2="48633" y2="7595"/>
                        <a14:foregroundMark x1="48633" y1="7595" x2="43164" y2="7173"/>
                        <a14:foregroundMark x1="46875" y1="6751" x2="56543" y2="7384"/>
                        <a14:foregroundMark x1="49023" y1="6013" x2="42773" y2="6435"/>
                        <a14:foregroundMark x1="42773" y1="6435" x2="57715" y2="6646"/>
                        <a14:foregroundMark x1="57715" y1="6435" x2="55859" y2="6435"/>
                        <a14:foregroundMark x1="55859" y1="6435" x2="52637" y2="5696"/>
                        <a14:foregroundMark x1="57031" y1="6540" x2="54590" y2="4641"/>
                        <a14:foregroundMark x1="59668" y1="7068" x2="75293" y2="13819"/>
                        <a14:foregroundMark x1="75293" y1="13819" x2="78809" y2="17089"/>
                        <a14:foregroundMark x1="91504" y1="36920" x2="93750" y2="44726"/>
                        <a14:foregroundMark x1="93750" y1="44726" x2="91113" y2="60021"/>
                        <a14:foregroundMark x1="91113" y1="60021" x2="92676" y2="65190"/>
                        <a14:foregroundMark x1="49316" y1="94620" x2="53906" y2="937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0647" y="115022"/>
            <a:ext cx="818641" cy="7940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F7FEF1-E7A4-0B64-E67E-F7FAEC778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12" y="188898"/>
            <a:ext cx="818641" cy="7940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21354D-8EDA-B81F-319A-128B3067327C}"/>
              </a:ext>
            </a:extLst>
          </p:cNvPr>
          <p:cNvSpPr txBox="1"/>
          <p:nvPr/>
        </p:nvSpPr>
        <p:spPr>
          <a:xfrm>
            <a:off x="4795324" y="188898"/>
            <a:ext cx="2601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Test Email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6C6529-CE9C-5CEF-AEAC-C5834A471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0120" y="2486913"/>
            <a:ext cx="3611880" cy="43710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361F28-6E61-026C-75C8-CB4E77F34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65276"/>
            <a:ext cx="5080514" cy="2253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BF3357-D7C4-1D9F-56A1-26A1ED5B6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5760" y="1065276"/>
            <a:ext cx="4005072" cy="587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28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E4716-B0DD-1B9E-D993-508AA971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BEE336-0C3B-2E42-7B02-6F470B5A7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316" y="1731930"/>
            <a:ext cx="8313367" cy="339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15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411</Words>
  <Application>Microsoft Office PowerPoint</Application>
  <PresentationFormat>Widescreen</PresentationFormat>
  <Paragraphs>57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Samay Pinjlani</dc:creator>
  <cp:lastModifiedBy>Samay Pinjlani</cp:lastModifiedBy>
  <cp:revision>2</cp:revision>
  <dcterms:created xsi:type="dcterms:W3CDTF">2026-09-08T11:51:49Z</dcterms:created>
  <dcterms:modified xsi:type="dcterms:W3CDTF">2026-09-09T04:58:50Z</dcterms:modified>
</cp:coreProperties>
</file>